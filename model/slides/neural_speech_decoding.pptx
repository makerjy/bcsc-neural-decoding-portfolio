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시작. 우리가 만든 것은 정확도 경쟁 모델이 아니라, '왜 이 부품이 있는가'에 답할 수 있는 모델이라는 점을 먼저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숫자는 빠르게 넘기고 '메커니즘' 문장에 시간을 쓴다. 11클래스에서 raw 퍼센트는 오해를 만들므로 항상 우연 대비로 말할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보정이 불가능하다는 점을 강조. 뒤에 나오는 '중심화를 하지 않는다'와 '시간 기저 행'이 전부 여기서 나온다.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발표의 방향 전환을 선언한다. 성능 경쟁이 아니라 메커니즘 규명이다.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발표의 전환점이다. 문제 정의를 명확히 하고 다음 슬라이드에서 해법을 보인다.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1은 신호대잡음 최대화(분모가 잡음). STAGE 2가 본체. STAGE 3은 피험자를 분리하는 게 아니라 섞지 않는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데이터로 계산한 행렬이다. 블록 경계선이 14, 28에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φ가 '추가 특징'이 아니라 SPD 객체의 기하를 바꾸는 물건이라는 점이 중요하다.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막대 위의 점이 폴드별 값이다. 네 대조군 모두 같은 666차원.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용량-반응 곡선은 '많을수록 좋다'가 아니라는 것을 보이는 표준적인 논증이다.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이건 설계가 아니라 앙상블이라는 점을 반드시 밝힌다. 두 표현이 서로 다른 정보를 담고 있어서 이기는 것이지, 구조적 근거가 있는 것이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선택 편향 +0.000은 inner CV가 고를 모델과 실제 최고가 같았다는 뜻이다.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순열 귀무가 0.088로 우연 0.091에 앉는 것이 가장 강한 증거다.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위: 공간 필터를 패턴으로 변환해 그린 것(Haufe et al. 2014). 필터를 그대로 그리면 해석이 틀린다.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숫자를 섞어 쓰지 말 것. 질문이 나오면 이 슬라이드로 돌아온다.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대부분의 포스터는 통과한 것만 보여준다. 반증에 숫자와 이유가 붙어 있다는 게 우리 작업의 값이다.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표가 발표의 정체성이다. 시간이 없으면 다른 슬라이드를 버리고 이걸 남긴다.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한계를 먼저 말하면 질의응답이 훨씬 편해진다.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마무리 문장. 여기서 질문을 받는다.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4884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40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뇌파에서 음소를 읽어내기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700" b="0" i="1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설계한 요소가 실제로 그 이유로 작동하는가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6052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4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11개 음소 분류  ·  16명  ·  61채널 EEG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2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OpenNeuro ds006104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한 장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40280"/>
            <a:ext cx="314949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5400" b="0" i="0">
                <a:solidFill>
                  <a:srgbClr val="A62B1F"/>
                </a:solidFill>
                <a:latin typeface="Times New Roman"/>
                <a:ea typeface="바탕"/>
                <a:cs typeface="Times New Roman"/>
              </a:rPr>
              <a:t>0.306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5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11음소 정확도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우연 0.091의 3.4배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38218" y="2240280"/>
            <a:ext cx="314949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54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15 / 15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5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베이스라인 대비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동일 폴드 전승,  p = 2×10⁻⁸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3476" y="2240280"/>
            <a:ext cx="314949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54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+0.000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5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선택 편향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미접촉 test셋에서 측정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그런데 이 발표의 내용은 위 숫자가 아니다.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우리가 중요하다고 생각한 요소 — 시간 구조 — 를 모델 안에 직접 넣었고, 그것이 주장한 이유로 작동한다는 것을 같은 차원의 대조군으로 보였다.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1.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데이터와 과제</a:t>
            </a:r>
          </a:p>
        </p:txBody>
      </p:sp>
      <p:pic>
        <p:nvPicPr>
          <p:cNvPr id="4" name="Picture 3" descr="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8302"/>
            <a:ext cx="6583680" cy="30157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92024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자극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1920240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음소 하나를 듣는다  (a i e u o s z p b t 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395728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피험자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395728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16명 × 약 208시행 = 3328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71216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채널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871216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61개, ICA 정제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346704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3346704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0 ~ 1.0초, 256 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822191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우연 수준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822191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1/11 = 0.091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526279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A62B1F"/>
                </a:solidFill>
                <a:latin typeface="Times New Roman"/>
                <a:ea typeface="바탕"/>
                <a:cs typeface="Times New Roman"/>
              </a:rPr>
              <a:t>자극 전 구간이 없다.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그래서 유발반응의 DC 성분이 살아남는 자리가 모델 안에 있어야 한다 — 이것이 설계 전체를 규정한다.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1.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왜 어려운가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단일 시행 효과크기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8288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A62B1F"/>
                </a:solidFill>
                <a:latin typeface="Times New Roman"/>
                <a:ea typeface="바탕"/>
                <a:cs typeface="Times New Roman"/>
              </a:rPr>
              <a:t>최대 |Cohen d| = 0.98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8288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1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신호는 실재하지만 잡음이 압도한다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시행을 평균하면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7889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A62B1F"/>
                </a:solidFill>
                <a:latin typeface="Times New Roman"/>
                <a:ea typeface="바탕"/>
                <a:cs typeface="Times New Roman"/>
              </a:rPr>
              <a:t>1회 0.550 → 8회 0.585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7889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1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8배를 모아도 조금 오른다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11클래스 산술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74903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A62B1F"/>
                </a:solidFill>
                <a:latin typeface="Times New Roman"/>
                <a:ea typeface="바탕"/>
                <a:cs typeface="Times New Roman"/>
              </a:rPr>
              <a:t>0.6이 되려면 이진 대비가 0.9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749039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1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우리 최고 이진이 0.650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199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정확도를 크게 올리는 길은 더 좋은 모델이 아니라 더 많은 데이터다.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그래서 우리는 정확도 대신 '무엇이 신호를 만드는가'를 물었다.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2.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핵심 문제 — 시간을 요약하면 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5120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시행 하나는 61채널 × 256샘플의 시계열이다 (필터를 지나면 14 × 256). 고정 길이 특징으로 바꿔야 하는데, 보통 쓰는 공분산 C = ZZᵀ/T 는 시간에 대해 평균을 내버린다.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00" b="0" i="1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"어느 채널이 함께 움직이나"는 남고 "언제"는 사라진다.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시간을 요약으로 소거한 표상들 (11음소)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103120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대역파워 (Welch)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210312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0.106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505456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클래스 개념자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2505456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0.099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907792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필터뱅크 Riemannian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2907792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0.097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310128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시간-주파수 (STFT)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3310128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0.123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712464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전체 궤적 공분산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3712464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시간 평균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 i="0">
                <a:solidFill>
                  <a:srgbClr val="A62B1F"/>
                </a:solidFill>
                <a:latin typeface="Times New Roman"/>
                <a:ea typeface="바탕"/>
                <a:cs typeface="Times New Roman"/>
              </a:rPr>
              <a:t>우리의 답 — 행을 더 쌓고 나서 공분산을 만들면, 공분산 하나 안에 시간 구조가 들어온다.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2.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설계본의 구조</a:t>
            </a:r>
          </a:p>
        </p:txBody>
      </p:sp>
      <p:pic>
        <p:nvPicPr>
          <p:cNvPr id="4" name="Picture 3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581" y="1371600"/>
            <a:ext cx="6618532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623560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STAGE 2가 이 설계의 핵심이며, 세 단 중 주장한 메커니즘이 통제를 통과한 유일한 부품이다.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2.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객체 안에는 무엇이 들어 있나</a:t>
            </a:r>
          </a:p>
        </p:txBody>
      </p:sp>
      <p:pic>
        <p:nvPicPr>
          <p:cNvPr id="4" name="Picture 3" descr="sp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93156"/>
            <a:ext cx="5120640" cy="25117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1691640"/>
            <a:ext cx="53949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Z × Z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어느 성분들이 함께 움직이나 — 공간 패턴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Z × Z(t−τ)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지금과 78 ms 전의 관계 — 동역학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A62B1F"/>
                </a:solidFill>
                <a:latin typeface="Times New Roman"/>
                <a:ea typeface="바탕"/>
                <a:cs typeface="Times New Roman"/>
              </a:rPr>
              <a:t>Z × φ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각 성분의 파형이 k번째 시계와 얼마나 닮았나 — 시간분해된 유발반응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5120640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φ 행은 모든 시행에 대해 똑같은 고정 파형이다. 이것이 시간 순서를 객체 안으로 들여보내는 통로다.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2.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시계(clock) — φ 행</a:t>
            </a:r>
          </a:p>
        </p:txBody>
      </p:sp>
      <p:pic>
        <p:nvPicPr>
          <p:cNvPr id="4" name="Picture 3" descr="p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26" y="1600200"/>
            <a:ext cx="6251867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965960"/>
            <a:ext cx="38404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φ(k, t) = cos(π k t),   k = 0 … 7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직교 DCT 기저, unit RMS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Z 를 φ 와 곱해 시간 평균하면 그 성분 파형의 k번째 주파수 성분이 나온다.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A62B1F"/>
                </a:solidFill>
                <a:latin typeface="Times New Roman"/>
                <a:ea typeface="바탕"/>
                <a:cs typeface="Times New Roman"/>
              </a:rPr>
              <a:t>K = 7 이면 1.01초 창에서 최고 성분이 약 3.5 Hz — N1/P2 유발복합체의 시간 척도.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3. 통제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통제 — 시간 구조가 진짜로 일하는가</a:t>
            </a:r>
          </a:p>
        </p:txBody>
      </p:sp>
      <p:pic>
        <p:nvPicPr>
          <p:cNvPr id="4" name="Picture 3" descr="phi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746" y="1371600"/>
            <a:ext cx="6637866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55448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차원을 똑같이 맞춘 채 시간 구조만 파괴했다.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1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정확도가 오른 것과 주장한 메커니즘이 작동한 것은 다르다.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차원 효과가 아니고,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아무 행이나 되는 것도 아니고,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 i="0">
                <a:solidFill>
                  <a:srgbClr val="A62B1F"/>
                </a:solidFill>
                <a:latin typeface="Times New Roman"/>
                <a:ea typeface="바탕"/>
                <a:cs typeface="Times New Roman"/>
              </a:rPr>
              <a:t>시간 척도가 맞아야 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3. 통제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통제 — 시간 척도가 맞아야 한다</a:t>
            </a:r>
          </a:p>
        </p:txBody>
      </p:sp>
      <p:pic>
        <p:nvPicPr>
          <p:cNvPr id="4" name="Picture 3" descr="k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23846"/>
            <a:ext cx="5486400" cy="39760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2148840"/>
            <a:ext cx="4480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행을 늘리기만 하면 좋아지지 않는다.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K를 0에서 23까지 늘리면 정확도가 역 U자를 그린다. 최적 K=7이 만드는 최고 성분 주파수가 유발반응의 시간 척도와 일치한다.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00" b="0" i="0">
                <a:solidFill>
                  <a:srgbClr val="A62B1F"/>
                </a:solidFill>
                <a:latin typeface="Times New Roman"/>
                <a:ea typeface="바탕"/>
                <a:cs typeface="Times New Roman"/>
              </a:rPr>
              <a:t>모델이 붙잡은 것이 우리가 붙잡으려던 것과 같다는 뜻이다.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4. 성적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최고 성능 모델</a:t>
            </a:r>
          </a:p>
        </p:txBody>
      </p:sp>
      <p:pic>
        <p:nvPicPr>
          <p:cNvPr id="4" name="Picture 3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729" y="1371600"/>
            <a:ext cx="8248235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623560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객체 하나는 T = 236 표본에서 추정되므로 변이 약 40을 넘을 수 없다. 그래서 크게 만들지 않고 밴드로 나눠 여러 개 만든다.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4. 성적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성적</a:t>
            </a:r>
          </a:p>
        </p:txBody>
      </p:sp>
      <p:pic>
        <p:nvPicPr>
          <p:cNvPr id="4" name="Picture 3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52" y="1600200"/>
            <a:ext cx="4999054" cy="4114800"/>
          </a:xfrm>
          <a:prstGeom prst="rect">
            <a:avLst/>
          </a:prstGeom>
        </p:spPr>
      </p:pic>
      <p:pic>
        <p:nvPicPr>
          <p:cNvPr id="5" name="Picture 4" descr="pai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002" y="1600200"/>
            <a:ext cx="4645914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715000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왼쪽: 한 번도 만지지 않은 최종 test셋.   오른쪽: 베이스라인과 동일 폴드에서 짝지어 비교.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5.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누수는 없는가</a:t>
            </a:r>
          </a:p>
        </p:txBody>
      </p:sp>
      <p:pic>
        <p:nvPicPr>
          <p:cNvPr id="4" name="Picture 3" descr="spl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51" y="1600200"/>
            <a:ext cx="6552776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965960"/>
            <a:ext cx="33832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같은 녹음이 양쪽에 들어가지 않게 나눠도,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시간 블록으로 나눠도 성적이 유지된다.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 i="0">
                <a:solidFill>
                  <a:srgbClr val="A62B1F"/>
                </a:solidFill>
                <a:latin typeface="Times New Roman"/>
                <a:ea typeface="바탕"/>
                <a:cs typeface="Times New Roman"/>
              </a:rPr>
              <a:t>라벨을 섞으면 정확히 우연으로 떨어진다.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필터가 라벨을 쓰는 지도 학습인데도 그렇다 — 모든 적합이 훈련 폴드 안에서만 일어난다는 뜻이다.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5.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모델은 무엇을 보고 있나</a:t>
            </a:r>
          </a:p>
        </p:txBody>
      </p:sp>
      <p:pic>
        <p:nvPicPr>
          <p:cNvPr id="4" name="Picture 3" descr="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112" y="1691640"/>
            <a:ext cx="6879294" cy="1828800"/>
          </a:xfrm>
          <a:prstGeom prst="rect">
            <a:avLst/>
          </a:prstGeom>
        </p:spPr>
      </p:pic>
      <p:pic>
        <p:nvPicPr>
          <p:cNvPr id="5" name="Picture 4" descr="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194" y="3657600"/>
            <a:ext cx="272529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3886200"/>
            <a:ext cx="5394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오분류가 음성학을 따른다.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모음과 자음이 블록을 이루고, 유성/무성 짝끼리 혼동된다 (s↔z, t↔d, p↔b).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자질 정보는 있으나 음소 정체를 완전히 가르기에는 부족하다.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6. 일반화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미학습 피험자에게는 통하지 않는다</a:t>
            </a:r>
          </a:p>
        </p:txBody>
      </p:sp>
      <p:pic>
        <p:nvPicPr>
          <p:cNvPr id="4" name="Picture 3" descr="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55" y="1600200"/>
            <a:ext cx="5647968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965960"/>
            <a:ext cx="42062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0.306은 "그 사람의 보정 데이터가 있을 때"의 값이다.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 i="0">
                <a:solidFill>
                  <a:srgbClr val="A62B1F"/>
                </a:solidFill>
                <a:latin typeface="Times New Roman"/>
                <a:ea typeface="바탕"/>
                <a:cs typeface="Times New Roman"/>
              </a:rPr>
              <a:t>새로운 사람에게는 0.143 — 어떤 모델로도 동작하지 않고, 딥과 고전이 동률이다.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이유를 측정했다: 피험자들의 판별 방향이 사실상 직교한다 (코사인 0.01, 같은 사람 재현은 0.45).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7. 정직성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우리가 스스로 반증한 것</a:t>
            </a:r>
          </a:p>
        </p:txBody>
      </p:sp>
      <p:pic>
        <p:nvPicPr>
          <p:cNvPr id="4" name="Picture 3" descr="em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38" y="1691640"/>
            <a:ext cx="5113682" cy="3200400"/>
          </a:xfrm>
          <a:prstGeom prst="rect">
            <a:avLst/>
          </a:prstGeom>
        </p:spPr>
      </p:pic>
      <p:pic>
        <p:nvPicPr>
          <p:cNvPr id="5" name="Picture 4" descr="reservoir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827" y="1691640"/>
            <a:ext cx="4463945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49834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설계를 대체하려는 두 방향을 모두 시험했다 — 역전파로 학습시키기, 그리고 랜덤 동역학에서 창발시키기. 둘 다 졌다.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리저버는 ρ가 커질수록, 크기를 키울수록 나빠진다. 최적점이 "리저버가 없는 쪽" 모서리에 앉아 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7. 정직성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통제 감사 — 항목별 집계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543032" cy="105156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1993392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000" b="0" i="0">
                <a:solidFill>
                  <a:srgbClr val="2E6B4F"/>
                </a:solidFill>
                <a:latin typeface="Times New Roman"/>
                <a:ea typeface="바탕"/>
                <a:cs typeface="Times New Roman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2157984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 i="0">
                <a:solidFill>
                  <a:srgbClr val="2E6B4F"/>
                </a:solidFill>
                <a:latin typeface="Times New Roman"/>
                <a:ea typeface="바탕"/>
                <a:cs typeface="Times New Roman"/>
              </a:rPr>
              <a:t>통과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048256"/>
            <a:ext cx="7223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시간 기저 · 지도 공간 투영 · SNR 분모 · 개인 판독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0543032" cy="1051560"/>
          </a:xfrm>
          <a:prstGeom prst="roundRect">
            <a:avLst>
              <a:gd name="adj" fmla="val 6000"/>
            </a:avLst>
          </a:prstGeom>
          <a:solidFill>
            <a:srgbClr val="F7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43000" y="3182112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000" b="0" i="0">
                <a:solidFill>
                  <a:srgbClr val="8A6D1F"/>
                </a:solidFill>
                <a:latin typeface="Times New Roman"/>
                <a:ea typeface="바탕"/>
                <a:cs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3346703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 i="0">
                <a:solidFill>
                  <a:srgbClr val="8A6D1F"/>
                </a:solidFill>
                <a:latin typeface="Times New Roman"/>
                <a:ea typeface="바탕"/>
                <a:cs typeface="Times New Roman"/>
              </a:rPr>
              <a:t>축소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236976"/>
            <a:ext cx="7223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라플라시안 기저 · 접선 기저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06240"/>
            <a:ext cx="10543032" cy="1051560"/>
          </a:xfrm>
          <a:prstGeom prst="roundRect">
            <a:avLst>
              <a:gd name="adj" fmla="val 6000"/>
            </a:avLst>
          </a:prstGeom>
          <a:solidFill>
            <a:srgbClr val="FA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43000" y="4370831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000" b="0" i="0">
                <a:solidFill>
                  <a:srgbClr val="A62B1F"/>
                </a:solidFill>
                <a:latin typeface="Times New Roman"/>
                <a:ea typeface="바탕"/>
                <a:cs typeface="Times New Roman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535424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 i="0">
                <a:solidFill>
                  <a:srgbClr val="A62B1F"/>
                </a:solidFill>
                <a:latin typeface="Times New Roman"/>
                <a:ea typeface="바탕"/>
                <a:cs typeface="Times New Roman"/>
              </a:rPr>
              <a:t>반증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425696"/>
            <a:ext cx="7223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필터의 피험자/음소 분리 · 비선형 지연 동역학 · 리저버 계보 · τ · 피험자 통합 · 기하 내 연결주의적 창발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라벨 누수도 두 건 잡았다 — 클래스 짝맞춤 대리변수(+0.028 부풀림)와 과거 hyperalignment (0.991 → 0.531).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8.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절대 성능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828800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11클래스 0.306은 실용 근처가 아니다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미학습 피험자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697480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0.14 — 보정 프로토콜을 최적화해도 쓸 만해지지 않는다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학습곡선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566160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아직 상승 중. 이 데이터셋은 사람당 208시행이 끝이다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음향 대 음소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434840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수동 청취 설계에서는 원리적으로 분리할 수 없다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A62B1F"/>
                </a:solidFill>
                <a:latin typeface="Times New Roman"/>
                <a:ea typeface="바탕"/>
                <a:cs typeface="Times New Roman"/>
              </a:rPr>
              <a:t>정확도를 더 올리려면 데이터를 바꿔야 한다 — 사람당 시행 수를 늘리거나 상상·발화 과제로 이동.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6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정확도가 오른 것과</a:t>
            </a:r>
          </a:p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600" b="0" i="0">
                <a:solidFill>
                  <a:srgbClr val="111111"/>
                </a:solidFill>
                <a:latin typeface="Times New Roman"/>
                <a:ea typeface="바탕"/>
                <a:cs typeface="Times New Roman"/>
              </a:rPr>
              <a:t>주장한 메커니즘이 작동한 것은 다르다.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20624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777777"/>
                </a:solidFill>
                <a:latin typeface="Times New Roman"/>
                <a:ea typeface="바탕"/>
                <a:cs typeface="Times New Roman"/>
              </a:rPr>
              <a:t>우리는 부품마다 동일 차원·동일 규모의 대조군을 만들어 그 차이를 측정했다.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